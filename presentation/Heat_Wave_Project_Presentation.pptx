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2588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Heat Wave Response, Recovery,</a:t>
            </a:r>
            <a:br/>
            <a:r>
              <a:t>Future Challenges and the Role of Technology</a:t>
            </a:r>
          </a:p>
          <a:p>
            <a:pPr algn="ctr">
              <a:defRPr sz="2000"/>
            </a:pPr>
            <a:r>
              <a:t>A Ground-Level Assessment and Preparedness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39330" y="3886200"/>
            <a:ext cx="508286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dirty="0"/>
              <a:t>Project Presentation </a:t>
            </a:r>
            <a:r>
              <a:rPr lang="en-IN" dirty="0"/>
              <a:t>by Mandal Tejaswini </a:t>
            </a:r>
            <a:r>
              <a:rPr dirty="0"/>
              <a:t>| India Space Lab</a:t>
            </a:r>
          </a:p>
          <a:p>
            <a:pPr algn="ctr">
              <a:defRPr sz="1600"/>
            </a:pPr>
            <a:r>
              <a:rPr dirty="0"/>
              <a:t>Study Area: Hyderabad, Telangana</a:t>
            </a:r>
          </a:p>
          <a:p>
            <a:pPr algn="ctr">
              <a:defRPr sz="1600"/>
            </a:pPr>
            <a:r>
              <a:rPr dirty="0"/>
              <a:t>Project Duration: 17 June – 31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Study Heat Waves?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Heat waves are becoming a serious urban disaster risk as high temperatures interact with rapid urban growth, loss of vegetation and dense built-up surfaces.</a:t>
            </a:r>
          </a:p>
          <a:p>
            <a:pPr>
              <a:spcAft>
                <a:spcPts val="1000"/>
              </a:spcAft>
              <a:defRPr sz="1800"/>
            </a:pPr>
            <a:r>
              <a:t>The impact is not limited to discomfort: extreme heat affects health, water demand, electricity use, outdoor work, agriculture and public infrastructure.</a:t>
            </a:r>
          </a:p>
          <a:p>
            <a:pPr>
              <a:spcAft>
                <a:spcPts val="1000"/>
              </a:spcAft>
              <a:defRPr sz="1800"/>
            </a:pPr>
            <a:r>
              <a:t>Hyderabad provides a useful urban setting to study how shade, traffic, vegetation and public preparedness influence heat exposure.</a:t>
            </a:r>
          </a:p>
          <a:p>
            <a:pPr>
              <a:spcAft>
                <a:spcPts val="1000"/>
              </a:spcAft>
              <a:defRPr sz="1800"/>
            </a:pPr>
            <a:r>
              <a:t>This project looks beyond the hazard itself and focuses on response, recovery, future challenges and practical use of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 of the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Understand the causes and major impacts of heat waves.</a:t>
            </a:r>
          </a:p>
          <a:p>
            <a:pPr>
              <a:spcAft>
                <a:spcPts val="1000"/>
              </a:spcAft>
              <a:defRPr sz="1800"/>
            </a:pPr>
            <a:r>
              <a:t>Study response measures used during periods of extreme heat and the recovery needs that follow.</a:t>
            </a:r>
          </a:p>
          <a:p>
            <a:pPr>
              <a:spcAft>
                <a:spcPts val="1000"/>
              </a:spcAft>
              <a:defRPr sz="1800"/>
            </a:pPr>
            <a:r>
              <a:t>Identify groups and locations that may face greater heat exposure.</a:t>
            </a:r>
          </a:p>
          <a:p>
            <a:pPr>
              <a:spcAft>
                <a:spcPts val="1000"/>
              </a:spcAft>
              <a:defRPr sz="1800"/>
            </a:pPr>
            <a:r>
              <a:t>Assess community awareness and basic preparedness.</a:t>
            </a:r>
          </a:p>
          <a:p>
            <a:pPr>
              <a:spcAft>
                <a:spcPts val="1000"/>
              </a:spcAft>
              <a:defRPr sz="1800"/>
            </a:pPr>
            <a:r>
              <a:t>Explore how GIS, remote sensing, AI, IoT, mobile alerts and other technologies can support heat-wave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Study Area and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Hyderabad, Telangana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The study uses a descriptive approach combining field-level observations with secondary information.</a:t>
            </a:r>
          </a:p>
          <a:p>
            <a:pPr>
              <a:spcAft>
                <a:spcPts val="1000"/>
              </a:spcAft>
              <a:defRPr sz="1700"/>
            </a:pPr>
            <a:r>
              <a:t>Primary components include a community questionnaire, temperature observations and comparison of different urban environments.</a:t>
            </a:r>
          </a:p>
          <a:p>
            <a:pPr>
              <a:spcAft>
                <a:spcPts val="1000"/>
              </a:spcAft>
              <a:defRPr sz="1700"/>
            </a:pPr>
            <a:r>
              <a:t>Secondary sources include IMD and NDMA material, government reports and published climate and health literature.</a:t>
            </a:r>
          </a:p>
          <a:p>
            <a:pPr>
              <a:spcAft>
                <a:spcPts val="1000"/>
              </a:spcAft>
              <a:defRPr sz="1700"/>
            </a:pPr>
            <a:r>
              <a:t>The study considers vulnerable groups such as outdoor workers, street vendors, construction workers, elderly people, children and sanitation workers.</a:t>
            </a:r>
          </a:p>
          <a:p>
            <a:pPr>
              <a:spcAft>
                <a:spcPts val="1000"/>
              </a:spcAft>
              <a:defRPr sz="1700"/>
            </a:pPr>
            <a:r>
              <a:t>Observed locations include a bus stand, public park, main road, residential area and market area.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Field Temperature Observations</a:t>
            </a:r>
          </a:p>
        </p:txBody>
      </p:sp>
      <p:pic>
        <p:nvPicPr>
          <p:cNvPr id="3" name="Picture 2" descr="Figure_1_Temperature_Var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949440" cy="41298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8120" y="132588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Highest observed temperature: Main Road — 43°C</a:t>
            </a:r>
          </a:p>
          <a:p>
            <a:pPr>
              <a:spcAft>
                <a:spcPts val="1000"/>
              </a:spcAft>
              <a:defRPr sz="1500"/>
            </a:pPr>
            <a:r>
              <a:t>Market Area — 42°C; Bus Stand — 41°C</a:t>
            </a:r>
          </a:p>
          <a:p>
            <a:pPr>
              <a:spcAft>
                <a:spcPts val="1000"/>
              </a:spcAft>
              <a:defRPr sz="1500"/>
            </a:pPr>
            <a:r>
              <a:t>Residential Area — 39°C</a:t>
            </a:r>
          </a:p>
          <a:p>
            <a:pPr>
              <a:spcAft>
                <a:spcPts val="1000"/>
              </a:spcAft>
              <a:defRPr sz="1500"/>
            </a:pPr>
            <a:r>
              <a:t>Lowest observed temperature: Public Park — 37°C</a:t>
            </a:r>
          </a:p>
          <a:p>
            <a:pPr>
              <a:spcAft>
                <a:spcPts val="1000"/>
              </a:spcAft>
              <a:defRPr sz="1500"/>
            </a:pPr>
            <a:r>
              <a:t>The 6°C difference between the Main Road and Public Park highlights the local importance of shade and vegetation.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Community Survey: Awareness and Preparedness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Survey summary: 20 participants</a:t>
            </a:r>
          </a:p>
        </p:txBody>
      </p:sp>
      <p:pic>
        <p:nvPicPr>
          <p:cNvPr id="4" name="Picture 3" descr="Figure_2_Community_Surve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132320" cy="4510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173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/>
            </a:pPr>
            <a:r>
              <a:t>80% were aware of heat-wave warnings.</a:t>
            </a:r>
          </a:p>
          <a:p>
            <a:pPr>
              <a:spcAft>
                <a:spcPts val="1000"/>
              </a:spcAft>
              <a:defRPr sz="1500"/>
            </a:pPr>
            <a:r>
              <a:t>40% reported experiencing a heat-related illness.</a:t>
            </a:r>
          </a:p>
          <a:p>
            <a:pPr>
              <a:spcAft>
                <a:spcPts val="1000"/>
              </a:spcAft>
              <a:defRPr sz="1500"/>
            </a:pPr>
            <a:r>
              <a:t>90% regularly carried drinking water.</a:t>
            </a:r>
          </a:p>
          <a:p>
            <a:pPr>
              <a:spcAft>
                <a:spcPts val="1000"/>
              </a:spcAft>
              <a:defRPr sz="1500"/>
            </a:pPr>
            <a:r>
              <a:t>75% knew the symptoms of heat stroke.</a:t>
            </a:r>
          </a:p>
          <a:p>
            <a:pPr>
              <a:spcAft>
                <a:spcPts val="1000"/>
              </a:spcAft>
              <a:defRPr sz="1500"/>
            </a:pPr>
            <a:r>
              <a:t>95% supported more tree plantation, while 100% supported additional public drinking-water facilities.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Relative Heat Vulnerability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Very High: Main Road (43°C) — heavy traffic and exposed built surfaces.</a:t>
            </a:r>
          </a:p>
          <a:p>
            <a:pPr>
              <a:spcAft>
                <a:spcPts val="1000"/>
              </a:spcAft>
              <a:defRPr sz="1700"/>
            </a:pPr>
            <a:r>
              <a:t>High: Market Area (42°C) and Bus Stand (41°C) — crowding, activity and limited shade can increase exposure.</a:t>
            </a:r>
          </a:p>
          <a:p>
            <a:pPr>
              <a:spcAft>
                <a:spcPts val="1000"/>
              </a:spcAft>
              <a:defRPr sz="1700"/>
            </a:pPr>
            <a:r>
              <a:t>Moderate: Residential Area (39°C).</a:t>
            </a:r>
          </a:p>
          <a:p>
            <a:pPr>
              <a:spcAft>
                <a:spcPts val="1000"/>
              </a:spcAft>
              <a:defRPr sz="1700"/>
            </a:pPr>
            <a:r>
              <a:t>Lower observed exposure: Public Park (37°C) — vegetation and shade were associated with a cooler local environment.</a:t>
            </a:r>
          </a:p>
          <a:p>
            <a:pPr>
              <a:spcAft>
                <a:spcPts val="1000"/>
              </a:spcAft>
              <a:defRPr sz="1700"/>
            </a:pPr>
            <a:r>
              <a:t>These observations are a small field comparison, not a city-wide temperature map, but they help identify practical factors that influence local heat stress.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Response and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Response: timely heat alerts, public communication, drinking-water access, shaded spaces, healthcare readiness and coordination among local agencies.</a:t>
            </a:r>
          </a:p>
          <a:p>
            <a:pPr>
              <a:spcAft>
                <a:spcPts val="1000"/>
              </a:spcAft>
              <a:defRPr sz="1800"/>
            </a:pPr>
            <a:r>
              <a:t>Priority groups include people who work outdoors, older adults, children and communities with limited access to cooling.</a:t>
            </a:r>
          </a:p>
          <a:p>
            <a:pPr>
              <a:spcAft>
                <a:spcPts val="1000"/>
              </a:spcAft>
              <a:defRPr sz="1800"/>
            </a:pPr>
            <a:r>
              <a:t>Recovery includes treatment of heat-related illness, restoration of livelihoods, reliable water and electricity supply, and support for agriculture where required.</a:t>
            </a:r>
          </a:p>
          <a:p>
            <a:pPr>
              <a:spcAft>
                <a:spcPts val="1000"/>
              </a:spcAft>
              <a:defRPr sz="1800"/>
            </a:pPr>
            <a:r>
              <a:t>Preparedness improves when response measures are planned before peak heat periods rather than introduced only after impacts occur.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Technology Can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GIS and Remote Sensing: identify heat-prone areas and compare land-surface temperature patterns.</a:t>
            </a:r>
          </a:p>
          <a:p>
            <a:pPr>
              <a:spcAft>
                <a:spcPts val="1000"/>
              </a:spcAft>
              <a:defRPr sz="1700"/>
            </a:pPr>
            <a:r>
              <a:t>AI: analyze weather and historical data to support forecasting and risk assessment.</a:t>
            </a:r>
          </a:p>
          <a:p>
            <a:pPr>
              <a:spcAft>
                <a:spcPts val="1000"/>
              </a:spcAft>
              <a:defRPr sz="1700"/>
            </a:pPr>
            <a:r>
              <a:t>IoT sensors: provide continuous local temperature and environmental observations.</a:t>
            </a:r>
          </a:p>
          <a:p>
            <a:pPr>
              <a:spcAft>
                <a:spcPts val="1000"/>
              </a:spcAft>
              <a:defRPr sz="1700"/>
            </a:pPr>
            <a:r>
              <a:t>Mobile alerts: communicate warnings and safety guidance quickly to the public.</a:t>
            </a:r>
          </a:p>
          <a:p>
            <a:pPr>
              <a:spcAft>
                <a:spcPts val="1000"/>
              </a:spcAft>
              <a:defRPr sz="1700"/>
            </a:pPr>
            <a:r>
              <a:t>Drones and satellite imagery: support monitoring of vulnerable locations and changing urban conditions.</a:t>
            </a:r>
          </a:p>
          <a:p>
            <a:pPr>
              <a:spcAft>
                <a:spcPts val="1000"/>
              </a:spcAft>
              <a:defRPr sz="1700"/>
            </a:pPr>
            <a:r>
              <a:t>Smart infrastructure: cool roofs, reflective surfaces, green spaces and efficient irrigation can reduce heat stress.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Case Study: Heat-Wave Preparedness in Hyderabad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Hyderabad combines high summer temperatures with dense development, traffic and large numbers of people working or travelling outdoors.</a:t>
            </a:r>
          </a:p>
          <a:p>
            <a:pPr>
              <a:spcAft>
                <a:spcPts val="1000"/>
              </a:spcAft>
              <a:defRPr sz="1700"/>
            </a:pPr>
            <a:r>
              <a:t>The field comparison showed 43°C at the Main Road and 37°C at the Public Park, illustrating how local urban conditions can influence heat exposure.</a:t>
            </a:r>
          </a:p>
          <a:p>
            <a:pPr>
              <a:spcAft>
                <a:spcPts val="1000"/>
              </a:spcAft>
              <a:defRPr sz="1700"/>
            </a:pPr>
            <a:r>
              <a:t>Preparedness should combine early warnings with visible ground-level measures: drinking water, shade, healthcare readiness and targeted communication.</a:t>
            </a:r>
          </a:p>
          <a:p>
            <a:pPr>
              <a:spcAft>
                <a:spcPts val="1000"/>
              </a:spcAft>
              <a:defRPr sz="1700"/>
            </a:pPr>
            <a:r>
              <a:t>Technology can support this approach by identifying hotspots and helping authorities direct resources toward locations and populations with greater exposure.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Increase tree cover and shaded public spaces in high-exposure areas.</a:t>
            </a:r>
          </a:p>
          <a:p>
            <a:pPr>
              <a:spcAft>
                <a:spcPts val="1000"/>
              </a:spcAft>
              <a:defRPr sz="1700"/>
            </a:pPr>
            <a:r>
              <a:t>Maintain accessible drinking-water points at markets, bus stops and other busy locations.</a:t>
            </a:r>
          </a:p>
          <a:p>
            <a:pPr>
              <a:spcAft>
                <a:spcPts val="1000"/>
              </a:spcAft>
              <a:defRPr sz="1700"/>
            </a:pPr>
            <a:r>
              <a:t>Strengthen heat alerts and communicate them in simple, locally accessible formats.</a:t>
            </a:r>
          </a:p>
          <a:p>
            <a:pPr>
              <a:spcAft>
                <a:spcPts val="1000"/>
              </a:spcAft>
              <a:defRPr sz="1700"/>
            </a:pPr>
            <a:r>
              <a:t>Promote cool roofs, reflective surfaces and climate-sensitive urban planning.</a:t>
            </a:r>
          </a:p>
          <a:p>
            <a:pPr>
              <a:spcAft>
                <a:spcPts val="1000"/>
              </a:spcAft>
              <a:defRPr sz="1700"/>
            </a:pPr>
            <a:r>
              <a:t>Use GIS and temperature monitoring to identify local hotspots and prioritize interventions.</a:t>
            </a:r>
          </a:p>
          <a:p>
            <a:pPr>
              <a:spcAft>
                <a:spcPts val="1000"/>
              </a:spcAft>
              <a:defRPr sz="1700"/>
            </a:pPr>
            <a:r>
              <a:t>Continue public education on hydration, heat-stroke symptoms and safe outdoor activity during extreme heat.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Heat-wave risk is shaped by both climate and the local urban environment.</a:t>
            </a:r>
          </a:p>
          <a:p>
            <a:pPr>
              <a:spcAft>
                <a:spcPts val="1000"/>
              </a:spcAft>
              <a:defRPr sz="1800"/>
            </a:pPr>
            <a:r>
              <a:t>The field observations and survey indicate the value of shade, vegetation, drinking-water access and public awareness.</a:t>
            </a:r>
          </a:p>
          <a:p>
            <a:pPr>
              <a:spcAft>
                <a:spcPts val="1000"/>
              </a:spcAft>
              <a:defRPr sz="1800"/>
            </a:pPr>
            <a:r>
              <a:t>Effective management requires early warning, coordinated response, recovery planning and long-term adaptation.</a:t>
            </a:r>
          </a:p>
          <a:p>
            <a:pPr>
              <a:spcAft>
                <a:spcPts val="1000"/>
              </a:spcAft>
              <a:defRPr sz="1800"/>
            </a:pPr>
            <a:r>
              <a:t>Combining community-level action with technologies such as GIS, AI, remote sensing and IoT can strengthen heat resilience.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58978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967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mandal tejaswini</dc:creator>
  <cp:keywords/>
  <dc:description>generated using python-pptx</dc:description>
  <cp:lastModifiedBy>mandal tejaswini</cp:lastModifiedBy>
  <cp:revision>2</cp:revision>
  <dcterms:created xsi:type="dcterms:W3CDTF">2013-01-27T09:14:16Z</dcterms:created>
  <dcterms:modified xsi:type="dcterms:W3CDTF">2026-07-26T13:28:51Z</dcterms:modified>
  <cp:category/>
</cp:coreProperties>
</file>